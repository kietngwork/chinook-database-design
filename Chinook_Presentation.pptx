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04" r:id="rId4"/>
  </p:sldMasterIdLst>
  <p:notesMasterIdLst>
    <p:notesMasterId r:id="rId22"/>
  </p:notesMasterIdLst>
  <p:sldIdLst>
    <p:sldId id="268" r:id="rId5"/>
    <p:sldId id="311" r:id="rId6"/>
    <p:sldId id="313" r:id="rId7"/>
    <p:sldId id="318" r:id="rId8"/>
    <p:sldId id="325" r:id="rId9"/>
    <p:sldId id="312" r:id="rId10"/>
    <p:sldId id="329" r:id="rId11"/>
    <p:sldId id="314" r:id="rId12"/>
    <p:sldId id="324" r:id="rId13"/>
    <p:sldId id="327" r:id="rId14"/>
    <p:sldId id="316" r:id="rId15"/>
    <p:sldId id="330" r:id="rId16"/>
    <p:sldId id="315" r:id="rId17"/>
    <p:sldId id="322" r:id="rId18"/>
    <p:sldId id="317" r:id="rId19"/>
    <p:sldId id="321" r:id="rId20"/>
    <p:sldId id="32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97" autoAdjust="0"/>
    <p:restoredTop sz="91704" autoAdjust="0"/>
  </p:normalViewPr>
  <p:slideViewPr>
    <p:cSldViewPr snapToGrid="0">
      <p:cViewPr varScale="1">
        <p:scale>
          <a:sx n="74" d="100"/>
          <a:sy n="74" d="100"/>
        </p:scale>
        <p:origin x="9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24ACA-E868-8042-99B4-EACEAB5685C8}" type="datetimeFigureOut">
              <a:rPr lang="en-US" smtClean="0"/>
              <a:t>5/13/2024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2157C-FEAF-6B4F-A969-47E7EAA9A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09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A2157C-FEAF-6B4F-A969-47E7EAA9AC7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416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A2157C-FEAF-6B4F-A969-47E7EAA9AC7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698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69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431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22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942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217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508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306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5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5/13/2024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268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8871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538967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81392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8081575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82307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97039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25135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327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5" r:id="rId1"/>
    <p:sldLayoutId id="2147484106" r:id="rId2"/>
    <p:sldLayoutId id="2147484107" r:id="rId3"/>
    <p:sldLayoutId id="2147484108" r:id="rId4"/>
    <p:sldLayoutId id="2147484109" r:id="rId5"/>
    <p:sldLayoutId id="2147484110" r:id="rId6"/>
    <p:sldLayoutId id="2147484111" r:id="rId7"/>
    <p:sldLayoutId id="2147484112" r:id="rId8"/>
    <p:sldLayoutId id="2147484113" r:id="rId9"/>
    <p:sldLayoutId id="2147484114" r:id="rId10"/>
    <p:sldLayoutId id="2147484115" r:id="rId11"/>
    <p:sldLayoutId id="2147484116" r:id="rId12"/>
    <p:sldLayoutId id="2147484117" r:id="rId13"/>
    <p:sldLayoutId id="2147484118" r:id="rId14"/>
    <p:sldLayoutId id="2147484119" r:id="rId15"/>
    <p:sldLayoutId id="2147484120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yugabyte.com/preview/sample-data/chinook/" TargetMode="External"/><Relationship Id="rId4" Type="http://schemas.openxmlformats.org/officeDocument/2006/relationships/hyperlink" Target="https://www.kaggle.com/datasets/anurag629/chinook-csv-dataset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668" y="600334"/>
            <a:ext cx="9625519" cy="1439695"/>
          </a:xfrm>
        </p:spPr>
        <p:txBody>
          <a:bodyPr>
            <a:noAutofit/>
          </a:bodyPr>
          <a:lstStyle/>
          <a:p>
            <a:pPr algn="ctr"/>
            <a:br>
              <a:rPr lang="en-US" sz="3600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 and Data Warehouse Project</a:t>
            </a:r>
            <a:b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CHINOOK  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Media Store</a:t>
            </a:r>
            <a:endParaRPr lang="en-US" sz="6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022820"/>
            <a:ext cx="9367736" cy="2469691"/>
          </a:xfrm>
        </p:spPr>
        <p:txBody>
          <a:bodyPr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1" dirty="0" err="1">
                <a:solidFill>
                  <a:srgbClr val="002060"/>
                </a:solidFill>
                <a:highlight>
                  <a:schemeClr val="lt1"/>
                </a:highlight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California</a:t>
            </a:r>
            <a:r>
              <a:rPr lang="vi-VN" sz="2400" b="1" dirty="0">
                <a:solidFill>
                  <a:srgbClr val="002060"/>
                </a:solidFill>
                <a:highlight>
                  <a:schemeClr val="lt1"/>
                </a:highlight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vi-VN" sz="2400" b="1" dirty="0" err="1">
                <a:solidFill>
                  <a:srgbClr val="002060"/>
                </a:solidFill>
                <a:highlight>
                  <a:schemeClr val="lt1"/>
                </a:highlight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State</a:t>
            </a:r>
            <a:r>
              <a:rPr lang="vi-VN" sz="2400" b="1" dirty="0">
                <a:solidFill>
                  <a:srgbClr val="002060"/>
                </a:solidFill>
                <a:highlight>
                  <a:schemeClr val="lt1"/>
                </a:highlight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vi-VN" sz="2400" b="1" dirty="0" err="1">
                <a:solidFill>
                  <a:srgbClr val="002060"/>
                </a:solidFill>
                <a:highlight>
                  <a:schemeClr val="lt1"/>
                </a:highlight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Polytechnic</a:t>
            </a:r>
            <a:r>
              <a:rPr lang="vi-VN" sz="2400" b="1" dirty="0">
                <a:solidFill>
                  <a:srgbClr val="002060"/>
                </a:solidFill>
                <a:highlight>
                  <a:schemeClr val="lt1"/>
                </a:highlight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vi-VN" sz="2400" b="1" dirty="0" err="1">
                <a:solidFill>
                  <a:srgbClr val="002060"/>
                </a:solidFill>
                <a:highlight>
                  <a:schemeClr val="lt1"/>
                </a:highlight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University</a:t>
            </a:r>
            <a:r>
              <a:rPr lang="vi-VN" sz="2400" b="1" dirty="0">
                <a:solidFill>
                  <a:srgbClr val="002060"/>
                </a:solidFill>
                <a:highlight>
                  <a:schemeClr val="lt1"/>
                </a:highlight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, </a:t>
            </a:r>
            <a:r>
              <a:rPr lang="vi-VN" sz="2400" b="1" dirty="0" err="1">
                <a:solidFill>
                  <a:srgbClr val="002060"/>
                </a:solidFill>
                <a:highlight>
                  <a:schemeClr val="lt1"/>
                </a:highlight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Pomona</a:t>
            </a:r>
            <a:endParaRPr lang="vi-VN" sz="2400" b="1" dirty="0">
              <a:solidFill>
                <a:srgbClr val="002060"/>
              </a:solidFill>
              <a:highlight>
                <a:schemeClr val="lt1"/>
              </a:highlight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1" dirty="0">
                <a:solidFill>
                  <a:srgbClr val="002060"/>
                </a:solidFill>
                <a:highlight>
                  <a:schemeClr val="lt1"/>
                </a:highlight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GBA 6220</a:t>
            </a:r>
            <a:endParaRPr lang="en-US" sz="2400" b="1" dirty="0">
              <a:solidFill>
                <a:srgbClr val="002060"/>
              </a:solidFill>
              <a:highlight>
                <a:schemeClr val="lt1"/>
              </a:highlight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algn="ctr">
              <a:spcBef>
                <a:spcPts val="0"/>
              </a:spcBef>
            </a:pPr>
            <a:r>
              <a:rPr lang="en-US" sz="1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 HUI SHI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highlight>
                <a:schemeClr val="lt1"/>
              </a:highlight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algn="ctr">
              <a:spcBef>
                <a:spcPts val="0"/>
              </a:spcBef>
            </a:pPr>
            <a:r>
              <a:rPr lang="en-US" sz="15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1: CECE NGUYEN, KIET NGUYEN, AILIEN DANG, IVY NGUYEN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vi-VN" sz="1800" b="1" dirty="0"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DA1B341-FED8-7FFD-65AA-CD4A9F5F89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8" t="11618" r="4387" b="15353"/>
          <a:stretch/>
        </p:blipFill>
        <p:spPr bwMode="auto">
          <a:xfrm>
            <a:off x="10181209" y="283931"/>
            <a:ext cx="1688123" cy="787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1,800+ Store Manager Phone Stock Illustrations, Royalty-Free Vector  Graphics &amp; Clip Art - iStock">
            <a:extLst>
              <a:ext uri="{FF2B5EF4-FFF2-40B4-BE49-F238E27FC236}">
                <a16:creationId xmlns:a16="http://schemas.microsoft.com/office/drawing/2014/main" id="{DCBB9D42-E126-DF37-4354-BBA02E3F1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9224" y="2099344"/>
            <a:ext cx="2572405" cy="265931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160C6-D85A-A03B-E1A9-EFA7FB944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41507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MOTIVATION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B5383-2242-1580-6C79-6A1AF8EAB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Autofit/>
          </a:bodyPr>
          <a:lstStyle/>
          <a:p>
            <a:r>
              <a:rPr lang="en-US" sz="1400" b="1" dirty="0"/>
              <a:t>About the Chinook database</a:t>
            </a:r>
          </a:p>
          <a:p>
            <a:pPr lvl="1">
              <a:buFont typeface="Wingdings" pitchFamily="2" charset="2"/>
              <a:buChar char="v"/>
            </a:pPr>
            <a:r>
              <a:rPr lang="en-US" sz="1200" dirty="0"/>
              <a:t>The Chinook data model represents a digital media store, including tables for artists, albums, media tracks, invoices, and customers.</a:t>
            </a:r>
          </a:p>
          <a:p>
            <a:pPr lvl="1">
              <a:buFont typeface="Wingdings" pitchFamily="2" charset="2"/>
              <a:buChar char="v"/>
            </a:pPr>
            <a:r>
              <a:rPr lang="en-US" sz="1200" dirty="0"/>
              <a:t>Media-related data was created using real data from an </a:t>
            </a:r>
            <a:r>
              <a:rPr lang="en-US" sz="1200" b="1" dirty="0"/>
              <a:t>Apple iTunes library.</a:t>
            </a:r>
          </a:p>
          <a:p>
            <a:pPr lvl="1">
              <a:buFont typeface="Wingdings" pitchFamily="2" charset="2"/>
              <a:buChar char="v"/>
            </a:pPr>
            <a:r>
              <a:rPr lang="en-US" sz="1200" dirty="0"/>
              <a:t>Customer and employee information was created using fictitious names and addresses that can be located on Google maps, and other well formatted data (phone, fax, email, etc.)</a:t>
            </a:r>
          </a:p>
          <a:p>
            <a:pPr lvl="1">
              <a:buFont typeface="Wingdings" pitchFamily="2" charset="2"/>
              <a:buChar char="v"/>
            </a:pPr>
            <a:r>
              <a:rPr lang="en-US" sz="1200" dirty="0"/>
              <a:t>Sales information was auto generated using random data for a four- year period.</a:t>
            </a:r>
          </a:p>
          <a:p>
            <a:pPr marL="457200" lvl="1" indent="0">
              <a:buNone/>
            </a:pPr>
            <a:endParaRPr lang="en-US" sz="1400" b="1" dirty="0"/>
          </a:p>
          <a:p>
            <a:r>
              <a:rPr lang="en-US" sz="1400" b="1" dirty="0"/>
              <a:t>WHY DO WE SELECT THIS DATASET?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200" dirty="0"/>
              <a:t>Industry Relevance: The Chinook database models a digital media store, aligning with key industry trends in digital sales and content distribution. It offers a practical insight into e-commerce operations.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200" dirty="0"/>
              <a:t>Educational Tool: Ideal for educational purposes, it helps develop SQL and database management skills through a realistic business environment.</a:t>
            </a:r>
          </a:p>
          <a:p>
            <a:pPr marL="457200" lvl="1" indent="0">
              <a:buNone/>
            </a:pPr>
            <a:endParaRPr lang="en-US" sz="1200" dirty="0"/>
          </a:p>
          <a:p>
            <a:r>
              <a:rPr lang="en-US" sz="1400" b="1" dirty="0"/>
              <a:t>WHERE AND HOW?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200" dirty="0"/>
              <a:t>The dataset was collected from Kaggle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200" dirty="0"/>
              <a:t>The description of the dataset was collected from </a:t>
            </a:r>
            <a:r>
              <a:rPr lang="en-US" sz="1200" dirty="0" err="1"/>
              <a:t>YugabyteDB</a:t>
            </a:r>
            <a:r>
              <a:rPr lang="en-US" sz="1200" dirty="0"/>
              <a:t> website</a:t>
            </a:r>
          </a:p>
        </p:txBody>
      </p:sp>
    </p:spTree>
    <p:extLst>
      <p:ext uri="{BB962C8B-B14F-4D97-AF65-F5344CB8AC3E}">
        <p14:creationId xmlns:p14="http://schemas.microsoft.com/office/powerpoint/2010/main" val="400415134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927CA-0E6B-3513-7383-FCCDACEB7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435137"/>
            <a:ext cx="8596668" cy="1320800"/>
          </a:xfrm>
        </p:spPr>
        <p:txBody>
          <a:bodyPr/>
          <a:lstStyle/>
          <a:p>
            <a:pPr algn="ctr"/>
            <a:r>
              <a:rPr lang="en-US" dirty="0"/>
              <a:t>ER DATA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D3FDD3-15A1-D6C8-E8F3-2EDF178CCC17}"/>
              </a:ext>
            </a:extLst>
          </p:cNvPr>
          <p:cNvSpPr txBox="1"/>
          <p:nvPr/>
        </p:nvSpPr>
        <p:spPr>
          <a:xfrm>
            <a:off x="7478176" y="2040201"/>
            <a:ext cx="3189824" cy="378565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0" i="0" dirty="0">
                <a:solidFill>
                  <a:srgbClr val="0D0D0D"/>
                </a:solidFill>
                <a:effectLst/>
              </a:rPr>
              <a:t>The ER diagram displays </a:t>
            </a:r>
            <a:r>
              <a:rPr lang="en-US" sz="1600" b="1" i="0" dirty="0">
                <a:solidFill>
                  <a:srgbClr val="0D0D0D"/>
                </a:solidFill>
                <a:effectLst/>
              </a:rPr>
              <a:t>11</a:t>
            </a:r>
            <a:r>
              <a:rPr lang="en-US" sz="1600" b="0" i="0" dirty="0">
                <a:solidFill>
                  <a:srgbClr val="0D0D0D"/>
                </a:solidFill>
                <a:effectLst/>
              </a:rPr>
              <a:t> primary entities which are essential to the database:</a:t>
            </a:r>
          </a:p>
          <a:p>
            <a:pPr algn="l"/>
            <a:endParaRPr lang="en-US" sz="1600" b="0" i="0" dirty="0">
              <a:solidFill>
                <a:srgbClr val="0D0D0D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0D0D0D"/>
                </a:solidFill>
                <a:effectLst/>
              </a:rPr>
              <a:t> Customers</a:t>
            </a:r>
            <a:r>
              <a:rPr lang="en-US" sz="1600" dirty="0">
                <a:solidFill>
                  <a:srgbClr val="0D0D0D"/>
                </a:solidFill>
              </a:rPr>
              <a:t> </a:t>
            </a:r>
            <a:endParaRPr lang="en-US" sz="1600" b="0" i="0" dirty="0">
              <a:solidFill>
                <a:srgbClr val="0D0D0D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0D0D0D"/>
                </a:solidFill>
                <a:effectLst/>
              </a:rPr>
              <a:t> Employees</a:t>
            </a:r>
            <a:endParaRPr lang="en-US" sz="1600" dirty="0">
              <a:solidFill>
                <a:srgbClr val="0D0D0D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0D0D0D"/>
                </a:solidFill>
                <a:effectLst/>
              </a:rPr>
              <a:t> Invoices</a:t>
            </a:r>
            <a:endParaRPr lang="en-US" sz="1600" dirty="0">
              <a:solidFill>
                <a:srgbClr val="0D0D0D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0D0D0D"/>
                </a:solidFill>
                <a:effectLst/>
              </a:rPr>
              <a:t> Invoice_Items (Invoice_Line)</a:t>
            </a:r>
            <a:endParaRPr lang="en-US" sz="1600" b="0" i="0" dirty="0">
              <a:solidFill>
                <a:srgbClr val="0D0D0D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0D0D0D"/>
                </a:solidFill>
                <a:effectLst/>
              </a:rPr>
              <a:t> Tracks</a:t>
            </a:r>
            <a:r>
              <a:rPr lang="en-US" sz="1600" b="0" i="0" dirty="0">
                <a:solidFill>
                  <a:srgbClr val="0D0D0D"/>
                </a:solidFill>
                <a:effectLst/>
              </a:rPr>
              <a:t> 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D0D0D"/>
                </a:solidFill>
              </a:rPr>
              <a:t> </a:t>
            </a:r>
            <a:r>
              <a:rPr lang="en-US" sz="1600" b="1" i="0" dirty="0">
                <a:solidFill>
                  <a:srgbClr val="0D0D0D"/>
                </a:solidFill>
                <a:effectLst/>
              </a:rPr>
              <a:t>Albums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D0D0D"/>
                </a:solidFill>
              </a:rPr>
              <a:t> </a:t>
            </a:r>
            <a:r>
              <a:rPr lang="en-US" sz="1600" b="1" i="0" dirty="0">
                <a:solidFill>
                  <a:srgbClr val="0D0D0D"/>
                </a:solidFill>
                <a:effectLst/>
              </a:rPr>
              <a:t>Artists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D0D0D"/>
                </a:solidFill>
              </a:rPr>
              <a:t> </a:t>
            </a:r>
            <a:r>
              <a:rPr lang="en-US" sz="1600" b="1" i="0" dirty="0">
                <a:solidFill>
                  <a:srgbClr val="0D0D0D"/>
                </a:solidFill>
                <a:effectLst/>
              </a:rPr>
              <a:t>Genres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D0D0D"/>
                </a:solidFill>
              </a:rPr>
              <a:t> </a:t>
            </a:r>
            <a:r>
              <a:rPr lang="en-US" sz="1600" b="1" i="0" dirty="0">
                <a:solidFill>
                  <a:srgbClr val="0D0D0D"/>
                </a:solidFill>
                <a:effectLst/>
              </a:rPr>
              <a:t>Media Types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D0D0D"/>
                </a:solidFill>
              </a:rPr>
              <a:t> </a:t>
            </a:r>
            <a:r>
              <a:rPr lang="en-US" sz="1600" b="1" i="0" dirty="0">
                <a:solidFill>
                  <a:srgbClr val="0D0D0D"/>
                </a:solidFill>
                <a:effectLst/>
              </a:rPr>
              <a:t>Playlists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D0D0D"/>
                </a:solidFill>
              </a:rPr>
              <a:t> </a:t>
            </a:r>
            <a:r>
              <a:rPr lang="en-US" sz="1600" b="1" i="0" dirty="0">
                <a:solidFill>
                  <a:srgbClr val="0D0D0D"/>
                </a:solidFill>
                <a:effectLst/>
              </a:rPr>
              <a:t>Playlist_Track</a:t>
            </a:r>
            <a:endParaRPr lang="en-US" sz="1600" b="0" i="0" dirty="0">
              <a:solidFill>
                <a:srgbClr val="0D0D0D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4081AF-D42F-C17B-4A73-36F0C9E90F5D}"/>
              </a:ext>
            </a:extLst>
          </p:cNvPr>
          <p:cNvSpPr txBox="1"/>
          <p:nvPr/>
        </p:nvSpPr>
        <p:spPr>
          <a:xfrm>
            <a:off x="3044041" y="967035"/>
            <a:ext cx="6103916" cy="394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b="1" u="sng" dirty="0"/>
              <a:t>ENTITY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517BEE-15FB-A46E-81E3-1C6992E8F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166" y="1594413"/>
            <a:ext cx="5159209" cy="473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837211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22BF437-5E01-4FD2-F2A0-B79DB712F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910837"/>
              </p:ext>
            </p:extLst>
          </p:nvPr>
        </p:nvGraphicFramePr>
        <p:xfrm>
          <a:off x="2031999" y="1524011"/>
          <a:ext cx="8127999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25435398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5535899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63519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027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1:M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Invoice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275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Employee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1:M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804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Employee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1:M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Employee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387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Invoice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1:M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InvoiceItem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450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1:M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InvoiceItem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089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Album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1:M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417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Artist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1:M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Album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5265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1:M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085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MediaType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1:M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561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1:M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Playlist_Track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561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Playlist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1:M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Playlist_Track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59466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44DF60A-3390-F782-1E04-5351B68E08E1}"/>
              </a:ext>
            </a:extLst>
          </p:cNvPr>
          <p:cNvSpPr txBox="1"/>
          <p:nvPr/>
        </p:nvSpPr>
        <p:spPr>
          <a:xfrm>
            <a:off x="3044041" y="883909"/>
            <a:ext cx="6103916" cy="394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b="1" u="sng" dirty="0"/>
              <a:t>RELATIONSHIPS</a:t>
            </a:r>
          </a:p>
        </p:txBody>
      </p:sp>
    </p:spTree>
    <p:extLst>
      <p:ext uri="{BB962C8B-B14F-4D97-AF65-F5344CB8AC3E}">
        <p14:creationId xmlns:p14="http://schemas.microsoft.com/office/powerpoint/2010/main" val="399888625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F704C0-B778-4999-8C24-78E08A8243D3}"/>
              </a:ext>
            </a:extLst>
          </p:cNvPr>
          <p:cNvSpPr txBox="1"/>
          <p:nvPr/>
        </p:nvSpPr>
        <p:spPr>
          <a:xfrm>
            <a:off x="3044041" y="883909"/>
            <a:ext cx="6103916" cy="495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 u="sng" dirty="0"/>
              <a:t>CONSTRAINTS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0EEBFB3-B929-88B4-7060-DC943FA1235D}"/>
              </a:ext>
            </a:extLst>
          </p:cNvPr>
          <p:cNvSpPr/>
          <p:nvPr/>
        </p:nvSpPr>
        <p:spPr>
          <a:xfrm>
            <a:off x="1389413" y="2437412"/>
            <a:ext cx="2006930" cy="19831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FOREIGN</a:t>
            </a:r>
          </a:p>
          <a:p>
            <a:pPr algn="ctr"/>
            <a:r>
              <a:rPr lang="en-US" sz="1400" dirty="0"/>
              <a:t>KEY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FA38862-0DB4-2751-9AD8-D0E1DBBC8A80}"/>
              </a:ext>
            </a:extLst>
          </p:cNvPr>
          <p:cNvSpPr/>
          <p:nvPr/>
        </p:nvSpPr>
        <p:spPr>
          <a:xfrm>
            <a:off x="3833751" y="2437412"/>
            <a:ext cx="2006930" cy="19831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ONE-TO-MANY</a:t>
            </a:r>
          </a:p>
          <a:p>
            <a:pPr algn="ctr"/>
            <a:r>
              <a:rPr lang="en-US" sz="1400" dirty="0"/>
              <a:t>RELATIONSHIP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3E82956-9D89-85E3-79BF-04F8528EFC27}"/>
              </a:ext>
            </a:extLst>
          </p:cNvPr>
          <p:cNvSpPr/>
          <p:nvPr/>
        </p:nvSpPr>
        <p:spPr>
          <a:xfrm>
            <a:off x="6278089" y="2437411"/>
            <a:ext cx="2006930" cy="19831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CASCADING</a:t>
            </a:r>
          </a:p>
          <a:p>
            <a:pPr algn="ctr"/>
            <a:r>
              <a:rPr lang="en-US" sz="1400" dirty="0"/>
              <a:t>DELETION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07E194D-745C-09B7-C481-B1DC2831192A}"/>
              </a:ext>
            </a:extLst>
          </p:cNvPr>
          <p:cNvSpPr/>
          <p:nvPr/>
        </p:nvSpPr>
        <p:spPr>
          <a:xfrm>
            <a:off x="8722427" y="2437410"/>
            <a:ext cx="2006930" cy="19831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NULLABILITY</a:t>
            </a:r>
          </a:p>
        </p:txBody>
      </p:sp>
    </p:spTree>
    <p:extLst>
      <p:ext uri="{BB962C8B-B14F-4D97-AF65-F5344CB8AC3E}">
        <p14:creationId xmlns:p14="http://schemas.microsoft.com/office/powerpoint/2010/main" val="1273463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677FC-6415-2320-C117-925B27066A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920" y="2605849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BUSINESS</a:t>
            </a:r>
            <a:br>
              <a:rPr lang="en-US" dirty="0"/>
            </a:br>
            <a:r>
              <a:rPr lang="en-US" dirty="0"/>
              <a:t>RULES</a:t>
            </a:r>
          </a:p>
        </p:txBody>
      </p:sp>
      <p:pic>
        <p:nvPicPr>
          <p:cNvPr id="4" name="Picture 3" descr="A screenshot of a computer flowchart&#10;&#10;Description automatically generated">
            <a:extLst>
              <a:ext uri="{FF2B5EF4-FFF2-40B4-BE49-F238E27FC236}">
                <a16:creationId xmlns:a16="http://schemas.microsoft.com/office/drawing/2014/main" id="{9B477EDE-850C-5C85-EBB4-869A1C3E1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373" y="276433"/>
            <a:ext cx="6872262" cy="630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354992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78EFF-98FB-28A9-DE8A-261E923D0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6D847-C5A1-D8B5-142F-1B4238027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One-to-Many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One customer can have multiple invoices.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One invoice can have multiple invoice items.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One track can be part of multiple invoice items and playlists.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One album can contain many tracks.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One artist can produce many albums.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One genre can include many tracks.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One media type can be associated with many tracks.</a:t>
            </a:r>
          </a:p>
          <a:p>
            <a:pPr marL="0" indent="0">
              <a:buNone/>
            </a:pPr>
            <a:r>
              <a:rPr lang="en-US" dirty="0"/>
              <a:t>Many-to-Many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One playlist can include many tracks, and one track can be included in many playlists. This relationship is managed by the </a:t>
            </a:r>
            <a:r>
              <a:rPr lang="en-US" dirty="0" err="1"/>
              <a:t>playlist_track</a:t>
            </a:r>
            <a:r>
              <a:rPr lang="en-US" dirty="0"/>
              <a:t> join table.</a:t>
            </a:r>
          </a:p>
        </p:txBody>
      </p:sp>
    </p:spTree>
    <p:extLst>
      <p:ext uri="{BB962C8B-B14F-4D97-AF65-F5344CB8AC3E}">
        <p14:creationId xmlns:p14="http://schemas.microsoft.com/office/powerpoint/2010/main" val="1012679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7207F-6930-CC3C-E984-3FA23E85C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407" y="113489"/>
            <a:ext cx="8596668" cy="1320800"/>
          </a:xfrm>
        </p:spPr>
        <p:txBody>
          <a:bodyPr/>
          <a:lstStyle/>
          <a:p>
            <a:r>
              <a:rPr lang="en-US" dirty="0"/>
              <a:t>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75138-2E66-9DDD-2FF0-6B1BC887C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827" y="1018703"/>
            <a:ext cx="9201510" cy="4051594"/>
          </a:xfrm>
        </p:spPr>
        <p:txBody>
          <a:bodyPr>
            <a:noAutofit/>
          </a:bodyPr>
          <a:lstStyle/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b="1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SQL Statements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DDL (Data Definition Language): 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Used to create and modify the database structure (CREATE TABLE, CREATE DATABASE).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DML (Data Manipulation Language): 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Manipulates data within tables (INSERT INTO, SELECT).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Utility Commands: 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Facilitate database operations (\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run scripts, \l to list databases, \c to connect to a database, \d to list tables).</a:t>
            </a:r>
          </a:p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b="1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Tables</a:t>
            </a:r>
          </a:p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Chinook database includes 11 primary tables:</a:t>
            </a:r>
          </a:p>
          <a:p>
            <a:pPr marR="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Album, Artist, Customer, Employee, Genre, Invoice, InvoiceLine, MediaType, Playlist,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PlaylistTrack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Track</a:t>
            </a:r>
          </a:p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b="1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Columns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Columns are tailored to the specific data each table holds, such as TrackId, Name, Composer in the Track table, which store the track’s ID, name, and composer respectively.</a:t>
            </a:r>
          </a:p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b="1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Constraints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Primary Key Constraints: Ensure each record is uniquely identifiable (e.g., TrackId, AlbumId).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Foreign Key Constraints: Maintain referential integrity between tables (e.g., AlbumId in Track links to Album).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 Null Constraints: Guarantee essential fields are always filled (e.g., Name in Track cannot be NULL).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3477597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5C888-766A-A56B-5D1A-42BE667E9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76" y="113489"/>
            <a:ext cx="8596668" cy="616085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SQL</a:t>
            </a:r>
            <a:endParaRPr lang="vi-VN" dirty="0"/>
          </a:p>
        </p:txBody>
      </p:sp>
      <p:pic>
        <p:nvPicPr>
          <p:cNvPr id="5" name="Content Placeholder 4" descr="A computer screen with a white screen">
            <a:extLst>
              <a:ext uri="{FF2B5EF4-FFF2-40B4-BE49-F238E27FC236}">
                <a16:creationId xmlns:a16="http://schemas.microsoft.com/office/drawing/2014/main" id="{1CF03CCF-449E-536E-BD7E-DB65B5853D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168" r="31325" b="6064"/>
          <a:stretch/>
        </p:blipFill>
        <p:spPr>
          <a:xfrm>
            <a:off x="498278" y="729574"/>
            <a:ext cx="8351664" cy="5961206"/>
          </a:xfr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3874533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773A-B962-B29F-E80E-BE4BA6252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DATA WAREHOUSE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8170B79-0833-0E42-9030-F2D1E5573EE8}"/>
              </a:ext>
            </a:extLst>
          </p:cNvPr>
          <p:cNvSpPr txBox="1">
            <a:spLocks/>
          </p:cNvSpPr>
          <p:nvPr/>
        </p:nvSpPr>
        <p:spPr>
          <a:xfrm>
            <a:off x="6175518" y="502235"/>
            <a:ext cx="5743074" cy="605444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1350" dirty="0"/>
              <a:t>This is a Special Star Schema (Snow-Flake Schema)</a:t>
            </a:r>
          </a:p>
          <a:p>
            <a:pPr>
              <a:spcBef>
                <a:spcPts val="600"/>
              </a:spcBef>
            </a:pPr>
            <a:r>
              <a:rPr lang="en-US" sz="1350" dirty="0"/>
              <a:t>2 Central Fact Tables:</a:t>
            </a:r>
          </a:p>
          <a:p>
            <a:pPr lvl="1">
              <a:spcBef>
                <a:spcPts val="600"/>
              </a:spcBef>
            </a:pPr>
            <a:r>
              <a:rPr lang="en-US" sz="1350" dirty="0"/>
              <a:t>FactInvoiceLine - Contains transactional data, linking each invoice line item to specific tracks and including financial details such as unit price and quantity.</a:t>
            </a:r>
          </a:p>
          <a:p>
            <a:pPr lvl="1">
              <a:spcBef>
                <a:spcPts val="600"/>
              </a:spcBef>
            </a:pPr>
            <a:r>
              <a:rPr lang="en-US" sz="1350" dirty="0"/>
              <a:t>FactTrack - Holds information about each track, including its relation to albums, media types, and genres, plus attributes like composer, duration, and price.</a:t>
            </a:r>
          </a:p>
          <a:p>
            <a:pPr>
              <a:spcBef>
                <a:spcPts val="600"/>
              </a:spcBef>
            </a:pPr>
            <a:r>
              <a:rPr lang="en-US" sz="1350" dirty="0"/>
              <a:t>7 Dimension Tables: </a:t>
            </a:r>
          </a:p>
          <a:p>
            <a:pPr lvl="1">
              <a:spcBef>
                <a:spcPts val="600"/>
              </a:spcBef>
            </a:pPr>
            <a:r>
              <a:rPr lang="en-US" sz="1350" dirty="0"/>
              <a:t>DimInvoice - Details about invoices, including references to the customers and employees involved, billing information, and total invoice amounts.</a:t>
            </a:r>
          </a:p>
          <a:p>
            <a:pPr lvl="1">
              <a:spcBef>
                <a:spcPts val="600"/>
              </a:spcBef>
            </a:pPr>
            <a:r>
              <a:rPr lang="en-US" sz="1350" dirty="0"/>
              <a:t>DimCustomer - Information about customers, such as name, contact details, and geographic location.</a:t>
            </a:r>
          </a:p>
          <a:p>
            <a:pPr lvl="1">
              <a:spcBef>
                <a:spcPts val="600"/>
              </a:spcBef>
            </a:pPr>
            <a:r>
              <a:rPr lang="en-US" sz="1350" dirty="0"/>
              <a:t>DimEmployee - Data on employees, including personal details, hierarchy (reports to), and contact information.</a:t>
            </a:r>
          </a:p>
          <a:p>
            <a:pPr lvl="1">
              <a:spcBef>
                <a:spcPts val="600"/>
              </a:spcBef>
            </a:pPr>
            <a:r>
              <a:rPr lang="en-US" sz="1350" dirty="0"/>
              <a:t>DimAlbum - Album details, including the title and the artist.</a:t>
            </a:r>
          </a:p>
          <a:p>
            <a:pPr lvl="1">
              <a:spcBef>
                <a:spcPts val="600"/>
              </a:spcBef>
            </a:pPr>
            <a:r>
              <a:rPr lang="en-US" sz="1350" dirty="0"/>
              <a:t>DimArtist - Information about the artists, primarily their names.</a:t>
            </a:r>
          </a:p>
          <a:p>
            <a:pPr lvl="1">
              <a:spcBef>
                <a:spcPts val="600"/>
              </a:spcBef>
            </a:pPr>
            <a:r>
              <a:rPr lang="en-US" sz="1350" dirty="0"/>
              <a:t>DimMediaType - Types of media in which tracks are available.</a:t>
            </a:r>
          </a:p>
          <a:p>
            <a:pPr lvl="1">
              <a:spcBef>
                <a:spcPts val="600"/>
              </a:spcBef>
            </a:pPr>
            <a:r>
              <a:rPr lang="en-US" sz="1350" dirty="0"/>
              <a:t>DimGenre - Musical genres.</a:t>
            </a:r>
          </a:p>
          <a:p>
            <a:pPr>
              <a:spcBef>
                <a:spcPts val="600"/>
              </a:spcBef>
            </a:pPr>
            <a:r>
              <a:rPr lang="en-US" sz="1350" dirty="0"/>
              <a:t>This setup is optimal for handling complex queries related to sales transactions, customer behavior, and track popularity, as it allows for fast data retrieval across a simplified relational structure.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D19BC8-E5F6-5248-1F89-1C60A1DFC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08" y="1358425"/>
            <a:ext cx="5743073" cy="519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44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B850B-B140-D57E-6387-D27677D2F5B8}"/>
              </a:ext>
            </a:extLst>
          </p:cNvPr>
          <p:cNvSpPr txBox="1">
            <a:spLocks/>
          </p:cNvSpPr>
          <p:nvPr/>
        </p:nvSpPr>
        <p:spPr>
          <a:xfrm>
            <a:off x="277371" y="180614"/>
            <a:ext cx="9135778" cy="139866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DATA WAREHOUSE</a:t>
            </a:r>
            <a:endParaRPr lang="vi-V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2B0FB6-69B9-1221-EB04-B3631E4A9ABA}"/>
              </a:ext>
            </a:extLst>
          </p:cNvPr>
          <p:cNvSpPr txBox="1"/>
          <p:nvPr/>
        </p:nvSpPr>
        <p:spPr>
          <a:xfrm>
            <a:off x="615455" y="734476"/>
            <a:ext cx="9603365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u="sng" dirty="0">
                <a:solidFill>
                  <a:srgbClr val="FF0000"/>
                </a:solidFill>
                <a:effectLst/>
                <a:latin typeface="Söhne"/>
              </a:rPr>
              <a:t>Fact Tables</a:t>
            </a:r>
          </a:p>
          <a:p>
            <a:pPr algn="l"/>
            <a:r>
              <a:rPr lang="en-US" sz="1200" b="1" i="0" dirty="0">
                <a:solidFill>
                  <a:srgbClr val="0D0D0D"/>
                </a:solidFill>
                <a:effectLst/>
                <a:latin typeface="Söhne"/>
              </a:rPr>
              <a:t>Fact: InvoiceLine</a:t>
            </a:r>
            <a:endParaRPr lang="en-US" sz="12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 algn="l">
              <a:buFont typeface="Wingdings" pitchFamily="2" charset="2"/>
              <a:buChar char="v"/>
            </a:pPr>
            <a:r>
              <a:rPr lang="en-US" sz="1200" b="0" i="1" dirty="0">
                <a:solidFill>
                  <a:srgbClr val="0D0D0D"/>
                </a:solidFill>
                <a:effectLst/>
                <a:latin typeface="Söhne"/>
              </a:rPr>
              <a:t>Primary Key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: InvoiceLineID</a:t>
            </a:r>
          </a:p>
          <a:p>
            <a:pPr marL="742950" lvl="1" indent="-285750" algn="l">
              <a:buFont typeface="Wingdings" pitchFamily="2" charset="2"/>
              <a:buChar char="v"/>
            </a:pPr>
            <a:r>
              <a:rPr lang="en-US" sz="1200" b="0" i="1" dirty="0">
                <a:solidFill>
                  <a:srgbClr val="0D0D0D"/>
                </a:solidFill>
                <a:effectLst/>
                <a:latin typeface="Söhne"/>
              </a:rPr>
              <a:t>Foreign Keys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: InvoiceID, TrackID</a:t>
            </a:r>
          </a:p>
          <a:p>
            <a:pPr marL="742950" lvl="1" indent="-285750" algn="l">
              <a:buFont typeface="Wingdings" pitchFamily="2" charset="2"/>
              <a:buChar char="v"/>
            </a:pP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Attributes: UnitPrice, Quantity</a:t>
            </a:r>
          </a:p>
          <a:p>
            <a:pPr algn="l"/>
            <a:r>
              <a:rPr lang="en-US" sz="1200" b="1" i="0" dirty="0">
                <a:solidFill>
                  <a:srgbClr val="0D0D0D"/>
                </a:solidFill>
                <a:effectLst/>
                <a:latin typeface="Söhne"/>
              </a:rPr>
              <a:t>Fact: Track</a:t>
            </a:r>
            <a:endParaRPr lang="en-US" sz="12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628650" lvl="1" indent="-171450" algn="l">
              <a:buFont typeface="Wingdings" pitchFamily="2" charset="2"/>
              <a:buChar char="v"/>
            </a:pPr>
            <a:r>
              <a:rPr lang="en-US" sz="1200" b="0" i="1" dirty="0">
                <a:solidFill>
                  <a:srgbClr val="0D0D0D"/>
                </a:solidFill>
                <a:effectLst/>
                <a:latin typeface="Söhne"/>
              </a:rPr>
              <a:t>Primary Key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: TrackID</a:t>
            </a:r>
          </a:p>
          <a:p>
            <a:pPr marL="628650" lvl="1" indent="-171450" algn="l">
              <a:buFont typeface="Wingdings" pitchFamily="2" charset="2"/>
              <a:buChar char="v"/>
            </a:pPr>
            <a:r>
              <a:rPr lang="en-US" sz="1200" b="0" i="1" dirty="0">
                <a:solidFill>
                  <a:srgbClr val="0D0D0D"/>
                </a:solidFill>
                <a:effectLst/>
                <a:latin typeface="Söhne"/>
              </a:rPr>
              <a:t>Foreign Keys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: AlbumID, MediaTypeID, GenreID</a:t>
            </a:r>
          </a:p>
          <a:p>
            <a:pPr marL="628650" lvl="1" indent="-171450" algn="l">
              <a:buFont typeface="Wingdings" pitchFamily="2" charset="2"/>
              <a:buChar char="v"/>
            </a:pP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Attributes: Composer, Milliseconds, </a:t>
            </a:r>
            <a:r>
              <a:rPr lang="en-US" sz="1200" b="0" i="0" dirty="0" err="1">
                <a:solidFill>
                  <a:srgbClr val="0D0D0D"/>
                </a:solidFill>
                <a:effectLst/>
                <a:latin typeface="Söhne"/>
              </a:rPr>
              <a:t>UnitPrice</a:t>
            </a:r>
            <a:endParaRPr lang="en-US" sz="1200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/>
            <a:r>
              <a:rPr lang="en-US" sz="1200" b="1" i="0" u="sng" dirty="0">
                <a:solidFill>
                  <a:srgbClr val="FF0000"/>
                </a:solidFill>
                <a:effectLst/>
                <a:latin typeface="Söhne"/>
              </a:rPr>
              <a:t>Dimension Tables</a:t>
            </a:r>
          </a:p>
          <a:p>
            <a:pPr algn="l"/>
            <a:r>
              <a:rPr lang="en-US" sz="1200" b="1" i="0" dirty="0">
                <a:solidFill>
                  <a:srgbClr val="0D0D0D"/>
                </a:solidFill>
                <a:effectLst/>
                <a:latin typeface="Söhne"/>
              </a:rPr>
              <a:t>Dim: Invoice</a:t>
            </a:r>
            <a:endParaRPr lang="en-US" sz="12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 algn="l">
              <a:buFont typeface="Wingdings" pitchFamily="2" charset="2"/>
              <a:buChar char="v"/>
            </a:pPr>
            <a:r>
              <a:rPr lang="en-US" sz="1200" b="0" i="1" dirty="0">
                <a:solidFill>
                  <a:srgbClr val="0D0D0D"/>
                </a:solidFill>
                <a:effectLst/>
                <a:latin typeface="Söhne"/>
              </a:rPr>
              <a:t>Primary Key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: InvoiceID</a:t>
            </a:r>
          </a:p>
          <a:p>
            <a:pPr marL="742950" lvl="1" indent="-285750" algn="l">
              <a:buFont typeface="Wingdings" pitchFamily="2" charset="2"/>
              <a:buChar char="v"/>
            </a:pPr>
            <a:r>
              <a:rPr lang="en-US" sz="1200" b="0" i="1" dirty="0">
                <a:solidFill>
                  <a:srgbClr val="0D0D0D"/>
                </a:solidFill>
                <a:effectLst/>
                <a:latin typeface="Söhne"/>
              </a:rPr>
              <a:t>Foreign Keys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: CustomerID, EmployeeID</a:t>
            </a:r>
          </a:p>
          <a:p>
            <a:pPr marL="742950" lvl="1" indent="-285750" algn="l">
              <a:buFont typeface="Wingdings" pitchFamily="2" charset="2"/>
              <a:buChar char="v"/>
            </a:pP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Attributes: InvoiceDate, BillingAddress, BillingCity, BillingState, BillingCountry, BillingPostalCode, Total</a:t>
            </a:r>
          </a:p>
          <a:p>
            <a:pPr algn="l"/>
            <a:r>
              <a:rPr lang="en-US" sz="1200" b="1" i="0" dirty="0">
                <a:solidFill>
                  <a:srgbClr val="0D0D0D"/>
                </a:solidFill>
                <a:effectLst/>
                <a:latin typeface="Söhne"/>
              </a:rPr>
              <a:t>Dim: Customer</a:t>
            </a:r>
            <a:endParaRPr lang="en-US" sz="12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 algn="l">
              <a:buFont typeface="Wingdings" pitchFamily="2" charset="2"/>
              <a:buChar char="v"/>
            </a:pPr>
            <a:r>
              <a:rPr lang="en-US" sz="1200" b="0" i="1" dirty="0">
                <a:solidFill>
                  <a:srgbClr val="0D0D0D"/>
                </a:solidFill>
                <a:effectLst/>
                <a:latin typeface="Söhne"/>
              </a:rPr>
              <a:t>Primary Key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: CustomerID</a:t>
            </a:r>
          </a:p>
          <a:p>
            <a:pPr marL="742950" lvl="1" indent="-285750" algn="l">
              <a:buFont typeface="Wingdings" pitchFamily="2" charset="2"/>
              <a:buChar char="v"/>
            </a:pP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Attributes: FirstName, LastName, Company, Address, City, State, Country, PostalCode, Phone, Email</a:t>
            </a:r>
          </a:p>
          <a:p>
            <a:pPr algn="l"/>
            <a:r>
              <a:rPr lang="en-US" sz="1200" b="1" i="0" dirty="0">
                <a:solidFill>
                  <a:srgbClr val="0D0D0D"/>
                </a:solidFill>
                <a:effectLst/>
                <a:latin typeface="Söhne"/>
              </a:rPr>
              <a:t>Dim: Employee</a:t>
            </a:r>
            <a:endParaRPr lang="en-US" sz="12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 algn="l">
              <a:buFont typeface="Wingdings" pitchFamily="2" charset="2"/>
              <a:buChar char="v"/>
            </a:pPr>
            <a:r>
              <a:rPr lang="en-US" sz="1200" b="0" i="1" dirty="0">
                <a:solidFill>
                  <a:srgbClr val="0D0D0D"/>
                </a:solidFill>
                <a:effectLst/>
                <a:latin typeface="Söhne"/>
              </a:rPr>
              <a:t>Primary Key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: EmployeeID</a:t>
            </a:r>
          </a:p>
          <a:p>
            <a:pPr marL="742950" lvl="1" indent="-285750" algn="l">
              <a:buFont typeface="Wingdings" pitchFamily="2" charset="2"/>
              <a:buChar char="v"/>
            </a:pP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Attributes: LastName, FirstName, Title, ReportsTo, BirthDate, HireDate, Address, City, State, Country, PostalCode, Phone, Fax, Email</a:t>
            </a:r>
          </a:p>
          <a:p>
            <a:pPr algn="l"/>
            <a:r>
              <a:rPr lang="en-US" sz="1200" b="1" i="0" dirty="0">
                <a:solidFill>
                  <a:srgbClr val="0D0D0D"/>
                </a:solidFill>
                <a:effectLst/>
                <a:latin typeface="Söhne"/>
              </a:rPr>
              <a:t>Dim: Album</a:t>
            </a:r>
            <a:endParaRPr lang="en-US" sz="12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 algn="l">
              <a:buFont typeface="Wingdings" pitchFamily="2" charset="2"/>
              <a:buChar char="v"/>
            </a:pPr>
            <a:r>
              <a:rPr lang="en-US" sz="1200" b="0" i="1" dirty="0">
                <a:solidFill>
                  <a:srgbClr val="0D0D0D"/>
                </a:solidFill>
                <a:effectLst/>
                <a:latin typeface="Söhne"/>
              </a:rPr>
              <a:t>Primary Key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: AlbumID</a:t>
            </a:r>
          </a:p>
          <a:p>
            <a:pPr marL="742950" lvl="1" indent="-285750" algn="l">
              <a:buFont typeface="Wingdings" pitchFamily="2" charset="2"/>
              <a:buChar char="v"/>
            </a:pPr>
            <a:r>
              <a:rPr lang="en-US" sz="1200" b="0" i="1" dirty="0">
                <a:solidFill>
                  <a:srgbClr val="0D0D0D"/>
                </a:solidFill>
                <a:effectLst/>
                <a:latin typeface="Söhne"/>
              </a:rPr>
              <a:t>Foreign Key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: ArtistID</a:t>
            </a:r>
          </a:p>
          <a:p>
            <a:pPr marL="742950" lvl="1" indent="-285750" algn="l">
              <a:buFont typeface="Wingdings" pitchFamily="2" charset="2"/>
              <a:buChar char="v"/>
            </a:pP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Attributes: Title</a:t>
            </a:r>
          </a:p>
          <a:p>
            <a:pPr algn="l"/>
            <a:r>
              <a:rPr lang="en-US" sz="1200" b="1" i="0" dirty="0">
                <a:solidFill>
                  <a:srgbClr val="0D0D0D"/>
                </a:solidFill>
                <a:effectLst/>
                <a:latin typeface="Söhne"/>
              </a:rPr>
              <a:t>Dim: Artist</a:t>
            </a:r>
            <a:endParaRPr lang="en-US" sz="12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 algn="l">
              <a:buFont typeface="Wingdings" pitchFamily="2" charset="2"/>
              <a:buChar char="v"/>
            </a:pPr>
            <a:r>
              <a:rPr lang="en-US" sz="1200" b="0" i="1" dirty="0">
                <a:solidFill>
                  <a:srgbClr val="0D0D0D"/>
                </a:solidFill>
                <a:effectLst/>
                <a:latin typeface="Söhne"/>
              </a:rPr>
              <a:t>Primary Key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: ArtistID</a:t>
            </a:r>
          </a:p>
          <a:p>
            <a:pPr marL="742950" lvl="1" indent="-285750" algn="l">
              <a:buFont typeface="Wingdings" pitchFamily="2" charset="2"/>
              <a:buChar char="v"/>
            </a:pP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Attributes: Name</a:t>
            </a:r>
          </a:p>
          <a:p>
            <a:pPr algn="l"/>
            <a:r>
              <a:rPr lang="en-US" sz="1200" b="1" i="0" dirty="0">
                <a:solidFill>
                  <a:srgbClr val="0D0D0D"/>
                </a:solidFill>
                <a:effectLst/>
                <a:latin typeface="Söhne"/>
              </a:rPr>
              <a:t>Dim: MediaType</a:t>
            </a:r>
            <a:endParaRPr lang="en-US" sz="12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 algn="l">
              <a:buFont typeface="Wingdings" pitchFamily="2" charset="2"/>
              <a:buChar char="v"/>
            </a:pPr>
            <a:r>
              <a:rPr lang="en-US" sz="1200" b="0" i="1" dirty="0">
                <a:solidFill>
                  <a:srgbClr val="0D0D0D"/>
                </a:solidFill>
                <a:effectLst/>
                <a:latin typeface="Söhne"/>
              </a:rPr>
              <a:t>Primary Key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: MediaTypeID</a:t>
            </a:r>
          </a:p>
          <a:p>
            <a:pPr marL="742950" lvl="1" indent="-285750" algn="l">
              <a:buFont typeface="Wingdings" pitchFamily="2" charset="2"/>
              <a:buChar char="v"/>
            </a:pP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Attributes: Name</a:t>
            </a:r>
          </a:p>
          <a:p>
            <a:pPr algn="l"/>
            <a:r>
              <a:rPr lang="en-US" sz="1200" b="1" i="0" dirty="0">
                <a:solidFill>
                  <a:srgbClr val="0D0D0D"/>
                </a:solidFill>
                <a:effectLst/>
                <a:latin typeface="Söhne"/>
              </a:rPr>
              <a:t>Dim: Genre</a:t>
            </a:r>
            <a:endParaRPr lang="en-US" sz="12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 algn="l">
              <a:buFont typeface="Wingdings" pitchFamily="2" charset="2"/>
              <a:buChar char="v"/>
            </a:pPr>
            <a:r>
              <a:rPr lang="en-US" sz="1200" b="0" i="1" dirty="0">
                <a:solidFill>
                  <a:srgbClr val="0D0D0D"/>
                </a:solidFill>
                <a:effectLst/>
                <a:latin typeface="Söhne"/>
              </a:rPr>
              <a:t>Primary Key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: GenreID</a:t>
            </a:r>
          </a:p>
          <a:p>
            <a:pPr marL="742950" lvl="1" indent="-285750" algn="l">
              <a:buFont typeface="Wingdings" pitchFamily="2" charset="2"/>
              <a:buChar char="v"/>
            </a:pP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Attributes: Name</a:t>
            </a:r>
          </a:p>
        </p:txBody>
      </p:sp>
    </p:spTree>
    <p:extLst>
      <p:ext uri="{BB962C8B-B14F-4D97-AF65-F5344CB8AC3E}">
        <p14:creationId xmlns:p14="http://schemas.microsoft.com/office/powerpoint/2010/main" val="716111181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E101A-51BF-CF92-8935-9797A50C8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1D9CA-32FB-C624-9402-71582678F2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480215"/>
            <a:ext cx="7821207" cy="4607764"/>
          </a:xfrm>
        </p:spPr>
        <p:txBody>
          <a:bodyPr>
            <a:normAutofit/>
          </a:bodyPr>
          <a:lstStyle/>
          <a:p>
            <a:pPr marL="0" marR="0">
              <a:lnSpc>
                <a:spcPct val="17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Using a data warehouse structured around the Chinook database, lots of business insights can be derived, for instances:</a:t>
            </a:r>
          </a:p>
          <a:p>
            <a:pPr marR="0">
              <a:lnSpc>
                <a:spcPct val="170000"/>
              </a:lnSpc>
              <a:spcBef>
                <a:spcPts val="0"/>
              </a:spcBef>
              <a:spcAft>
                <a:spcPts val="800"/>
              </a:spcAft>
              <a:buFont typeface="Wingdings" pitchFamily="2" charset="2"/>
              <a:buChar char="v"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 Purchasing Behavior</a:t>
            </a:r>
          </a:p>
          <a:p>
            <a:pPr marR="0">
              <a:lnSpc>
                <a:spcPct val="170000"/>
              </a:lnSpc>
              <a:spcBef>
                <a:spcPts val="0"/>
              </a:spcBef>
              <a:spcAft>
                <a:spcPts val="800"/>
              </a:spcAft>
              <a:buFont typeface="Wingdings" pitchFamily="2" charset="2"/>
              <a:buChar char="v"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Sales Trends</a:t>
            </a:r>
          </a:p>
          <a:p>
            <a:pPr marR="0">
              <a:lnSpc>
                <a:spcPct val="170000"/>
              </a:lnSpc>
              <a:spcBef>
                <a:spcPts val="0"/>
              </a:spcBef>
              <a:spcAft>
                <a:spcPts val="800"/>
              </a:spcAft>
              <a:buFont typeface="Wingdings" pitchFamily="2" charset="2"/>
              <a:buChar char="v"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Performance</a:t>
            </a:r>
          </a:p>
          <a:p>
            <a:pPr marR="0">
              <a:lnSpc>
                <a:spcPct val="170000"/>
              </a:lnSpc>
              <a:spcBef>
                <a:spcPts val="0"/>
              </a:spcBef>
              <a:spcAft>
                <a:spcPts val="800"/>
              </a:spcAft>
              <a:buFont typeface="Wingdings" pitchFamily="2" charset="2"/>
              <a:buChar char="v"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Product Performance</a:t>
            </a:r>
          </a:p>
        </p:txBody>
      </p:sp>
    </p:spTree>
    <p:extLst>
      <p:ext uri="{BB962C8B-B14F-4D97-AF65-F5344CB8AC3E}">
        <p14:creationId xmlns:p14="http://schemas.microsoft.com/office/powerpoint/2010/main" val="1177673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F2F37-8AFB-9F11-E156-D6848A5051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8230"/>
            <a:ext cx="6403972" cy="895257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Business Insights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89D9D2E-4948-CEBE-9CAE-FDD9FAA13A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9219" y="7742216"/>
            <a:ext cx="4947941" cy="897746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BBE963D-A581-3EB8-4378-371132B50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922" y="1271672"/>
            <a:ext cx="8098466" cy="4555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504445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1F5DAA7C-87F1-9802-5549-22499FFD80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148" y="1498060"/>
            <a:ext cx="7831134" cy="4405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3F1B284-A2F9-118A-A9DF-935C6BC0A1DB}"/>
              </a:ext>
            </a:extLst>
          </p:cNvPr>
          <p:cNvSpPr txBox="1">
            <a:spLocks/>
          </p:cNvSpPr>
          <p:nvPr/>
        </p:nvSpPr>
        <p:spPr>
          <a:xfrm>
            <a:off x="-307972" y="602803"/>
            <a:ext cx="6403972" cy="89525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/>
              <a:t>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371722152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B7BA7-9263-B2EA-C561-EDFBAD18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562" y="609600"/>
            <a:ext cx="6424440" cy="1320800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FUTURE WORK</a:t>
            </a:r>
          </a:p>
        </p:txBody>
      </p:sp>
      <p:pic>
        <p:nvPicPr>
          <p:cNvPr id="5" name="Picture 4" descr="Graph on document with pen">
            <a:extLst>
              <a:ext uri="{FF2B5EF4-FFF2-40B4-BE49-F238E27FC236}">
                <a16:creationId xmlns:a16="http://schemas.microsoft.com/office/drawing/2014/main" id="{2228B17B-E591-0C48-35B7-A13134D559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930" r="26497" b="1"/>
          <a:stretch/>
        </p:blipFill>
        <p:spPr>
          <a:xfrm>
            <a:off x="20" y="10"/>
            <a:ext cx="2734036" cy="6867719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ECD25CC7-FC66-488C-8D61-0FE7ECF16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AE728-B154-8155-CA0E-C4A0A0861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562" y="2160589"/>
            <a:ext cx="6424440" cy="388077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5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External Data</a:t>
            </a:r>
            <a:r>
              <a:rPr lang="en-US" sz="15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5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and Web Analytics</a:t>
            </a:r>
            <a:r>
              <a:rPr lang="en-US" sz="15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Combine social media insights and web usage data to enrich customer profiles and improve marketing strategies.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5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 and Machine Learning</a:t>
            </a:r>
            <a:r>
              <a:rPr lang="en-US" sz="15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5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Modeling</a:t>
            </a:r>
            <a:r>
              <a:rPr lang="en-US" sz="15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Develop models to forecast sales trends and customer behavior.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5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</a:t>
            </a:r>
            <a:r>
              <a:rPr lang="en-US" sz="15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Apply machine learning to segment customers more effectively based on their purchasing patterns.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5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Expansion</a:t>
            </a:r>
            <a:r>
              <a:rPr lang="en-US" sz="15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5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Markets and Products</a:t>
            </a:r>
            <a:r>
              <a:rPr lang="en-US" sz="15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Explore opportunities for geographic and product line expansion, such as adding merchandise or event tickets.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5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Processing</a:t>
            </a:r>
            <a:r>
              <a:rPr lang="en-US" sz="15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5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 Processing</a:t>
            </a:r>
            <a:r>
              <a:rPr lang="en-US" sz="15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Adopt technologies for instant data processing to support dynamic pricing and immediate inventory updates.</a:t>
            </a:r>
          </a:p>
        </p:txBody>
      </p:sp>
    </p:spTree>
    <p:extLst>
      <p:ext uri="{BB962C8B-B14F-4D97-AF65-F5344CB8AC3E}">
        <p14:creationId xmlns:p14="http://schemas.microsoft.com/office/powerpoint/2010/main" val="3532390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8001C-02B4-0D21-0A3C-9B8065548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REFERENCES</a:t>
            </a:r>
          </a:p>
        </p:txBody>
      </p:sp>
      <p:pic>
        <p:nvPicPr>
          <p:cNvPr id="5" name="Graphic 4" descr="Open book with solid fill">
            <a:extLst>
              <a:ext uri="{FF2B5EF4-FFF2-40B4-BE49-F238E27FC236}">
                <a16:creationId xmlns:a16="http://schemas.microsoft.com/office/drawing/2014/main" id="{4E3D0330-4A11-795E-B130-8680DC92B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7474" y="2159331"/>
            <a:ext cx="2915973" cy="2915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385D1-4457-6EB6-F5D4-7F5DFF3E4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3160" y="2160589"/>
            <a:ext cx="5207839" cy="388077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PROFESSOR’S LECTURES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KAGGLE: </a:t>
            </a:r>
            <a:r>
              <a:rPr lang="en-US" b="1" dirty="0">
                <a:hlinkClick r:id="rId4"/>
              </a:rPr>
              <a:t>https://www.kaggle.com/datasets/anurag629/chinook-csv-dataset</a:t>
            </a:r>
            <a:r>
              <a:rPr lang="en-US" b="1" dirty="0"/>
              <a:t>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YugabyteDB: </a:t>
            </a:r>
            <a:r>
              <a:rPr lang="en-US" b="1" dirty="0">
                <a:hlinkClick r:id="rId5"/>
              </a:rPr>
              <a:t>https://docs.yugabyte.com/preview/sample-data/chinook/</a:t>
            </a: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4433444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B506C-4C4F-6BD8-8C8E-D9C9EC4D1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471" y="514924"/>
            <a:ext cx="4421975" cy="1654344"/>
          </a:xfrm>
        </p:spPr>
        <p:txBody>
          <a:bodyPr>
            <a:normAutofit/>
          </a:bodyPr>
          <a:lstStyle/>
          <a:p>
            <a:pPr algn="ctr"/>
            <a:r>
              <a:rPr lang="en-US" sz="4800" b="1" i="1" dirty="0">
                <a:latin typeface="Algerian" panose="04020705040A02060702" pitchFamily="82" charset="0"/>
              </a:rPr>
              <a:t>Thank you</a:t>
            </a:r>
            <a:endParaRPr lang="vi-VN" sz="4800" b="1" i="1" dirty="0">
              <a:latin typeface="Aptos Black" panose="020F0502020204030204" pitchFamily="34" charset="0"/>
            </a:endParaRPr>
          </a:p>
        </p:txBody>
      </p:sp>
      <p:pic>
        <p:nvPicPr>
          <p:cNvPr id="2050" name="Picture 2" descr="Should Listen To Music ...">
            <a:extLst>
              <a:ext uri="{FF2B5EF4-FFF2-40B4-BE49-F238E27FC236}">
                <a16:creationId xmlns:a16="http://schemas.microsoft.com/office/drawing/2014/main" id="{8E731940-B71A-5C89-F521-1687F456ED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447" y="2372266"/>
            <a:ext cx="6147785" cy="2969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580093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Face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5182</TotalTime>
  <Words>1208</Words>
  <Application>Microsoft Office PowerPoint</Application>
  <PresentationFormat>Widescreen</PresentationFormat>
  <Paragraphs>181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Algerian</vt:lpstr>
      <vt:lpstr>Aptos Black</vt:lpstr>
      <vt:lpstr>Arial</vt:lpstr>
      <vt:lpstr>Calibri</vt:lpstr>
      <vt:lpstr>Roboto</vt:lpstr>
      <vt:lpstr>Söhne</vt:lpstr>
      <vt:lpstr>Times New Roman</vt:lpstr>
      <vt:lpstr>Trebuchet MS</vt:lpstr>
      <vt:lpstr>Wingdings</vt:lpstr>
      <vt:lpstr>Wingdings 3</vt:lpstr>
      <vt:lpstr>Facet</vt:lpstr>
      <vt:lpstr> Data Modeling and Data Warehouse Project CHINOOK  Digital Media Store</vt:lpstr>
      <vt:lpstr>MOTIVATION </vt:lpstr>
      <vt:lpstr>ER DATA MODEL</vt:lpstr>
      <vt:lpstr>PowerPoint Presentation</vt:lpstr>
      <vt:lpstr>PowerPoint Presentation</vt:lpstr>
      <vt:lpstr>BUSINESS RULES</vt:lpstr>
      <vt:lpstr>Business Rules</vt:lpstr>
      <vt:lpstr>DATABASE</vt:lpstr>
      <vt:lpstr>DATABASE SQL</vt:lpstr>
      <vt:lpstr>DATA WAREHOUSE </vt:lpstr>
      <vt:lpstr>PowerPoint Presentation</vt:lpstr>
      <vt:lpstr>Business Insights</vt:lpstr>
      <vt:lpstr>Business Insights</vt:lpstr>
      <vt:lpstr>PowerPoint Presentation</vt:lpstr>
      <vt:lpstr> FUTURE WORK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CHINOOK Data Modeling and Data Warehouse Project</dc:title>
  <dc:creator>phuong nguyen</dc:creator>
  <cp:lastModifiedBy>Vy T. Nguyen</cp:lastModifiedBy>
  <cp:revision>21</cp:revision>
  <dcterms:created xsi:type="dcterms:W3CDTF">2024-05-08T02:47:34Z</dcterms:created>
  <dcterms:modified xsi:type="dcterms:W3CDTF">2024-05-14T06:09:21Z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